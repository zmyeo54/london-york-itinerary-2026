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mfo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291840"/>
            <a:ext cx="8046720" cy="3566160"/>
          </a:xfrm>
          <a:prstGeom prst="rect">
            <a:avLst/>
          </a:prstGeom>
          <a:solidFill>
            <a:srgbClr val="10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520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E2D4"/>
                </a:solidFill>
                <a:latin typeface="Calibri"/>
              </a:rPr>
              <a:t>15–18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E8E2D4"/>
                </a:solidFill>
                <a:latin typeface="Georgia"/>
              </a:rPr>
              <a:t>London to York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8E2D4"/>
                </a:solidFill>
                <a:latin typeface="Calibri"/>
              </a:rPr>
              <a:t>A relaxed autumn road trip · Stamford lunch stop · Three nights in York · Castle Howard and Robin Hood’s Bay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B07A"/>
                </a:solidFill>
                <a:latin typeface="Calibri"/>
              </a:rPr>
              <a:t>Car pickup: Thursday 15 October, 9am, Canary Wharf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F3D36"/>
                </a:solidFill>
                <a:latin typeface="Georgia"/>
              </a:rPr>
              <a:t>Your four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F5A49"/>
                </a:solidFill>
                <a:latin typeface="Calibri"/>
              </a:rPr>
              <a:t>Thursday 15 to Sunday 18 October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97840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772400"/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F5A49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>
                    <a:solidFill>
                      <a:srgbClr val="E2D9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F5A49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>
                    <a:solidFill>
                      <a:srgbClr val="E2D9C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C2420"/>
                          </a:solidFill>
                          <a:latin typeface="Calibri"/>
                        </a:rPr>
                        <a:t>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420"/>
                          </a:solidFill>
                          <a:latin typeface="Calibri"/>
                        </a:rPr>
                        <a:t>Canary Wharf → Stamford → York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C2420"/>
                          </a:solidFill>
                          <a:latin typeface="Calibri"/>
                        </a:rPr>
                        <a:t>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420"/>
                          </a:solidFill>
                          <a:latin typeface="Calibri"/>
                        </a:rPr>
                        <a:t>York Minster, old town and Shambles Market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C2420"/>
                          </a:solidFill>
                          <a:latin typeface="Calibri"/>
                        </a:rPr>
                        <a:t>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420"/>
                          </a:solidFill>
                          <a:latin typeface="Calibri"/>
                        </a:rPr>
                        <a:t>Castle Howard and Robin Hood’s Bay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C2420"/>
                          </a:solidFill>
                          <a:latin typeface="Calibri"/>
                        </a:rPr>
                        <a:t>Sunday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420"/>
                          </a:solidFill>
                          <a:latin typeface="Calibri"/>
                        </a:rPr>
                        <a:t>Leave York. London return is provisional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420"/>
                </a:solidFill>
                <a:latin typeface="Calibri"/>
              </a:rPr>
              <a:t>Railway House York: 3 nights, 15–18 October · 128 Holgate Road, YO24 4FL · Free private parking</a:t>
            </a:r>
          </a:p>
          <a:p>
            <a:r>
              <a:rPr sz="1500" b="0">
                <a:solidFill>
                  <a:srgbClr val="1C2420"/>
                </a:solidFill>
                <a:latin typeface="Calibri"/>
              </a:rPr>
              <a:t>All driving times are estimates. Traffic and comfort stops may change arrival times.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3D36"/>
                </a:solidFill>
                <a:latin typeface="Georgia"/>
              </a:rPr>
              <a:t>Thursday: Stamford, then York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F5A49"/>
                </a:solidFill>
                <a:latin typeface="Calibri"/>
              </a:rPr>
              <a:t>15 October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67665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57200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F5A49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>
                    <a:solidFill>
                      <a:srgbClr val="E2D9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F5A49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>
                    <a:solidFill>
                      <a:srgbClr val="E2D9C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2420"/>
                          </a:solidFill>
                          <a:latin typeface="Calibri"/>
                        </a:rPr>
                        <a:t>9am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0"/>
                          </a:solidFill>
                          <a:latin typeface="Calibri"/>
                        </a:rPr>
                        <a:t>Pick up car in Canary Wharf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2420"/>
                          </a:solidFill>
                          <a:latin typeface="Calibri"/>
                        </a:rPr>
                        <a:t>9.30am–12pm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0"/>
                          </a:solidFill>
                          <a:latin typeface="Calibri"/>
                        </a:rPr>
                        <a:t>Drive to Stamford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2420"/>
                          </a:solidFill>
                          <a:latin typeface="Calibri"/>
                        </a:rPr>
                        <a:t>12–1pm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0"/>
                          </a:solidFill>
                          <a:latin typeface="Calibri"/>
                        </a:rPr>
                        <a:t>Lunch in town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2420"/>
                          </a:solidFill>
                          <a:latin typeface="Calibri"/>
                        </a:rPr>
                        <a:t>1–3.30pm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0"/>
                          </a:solidFill>
                          <a:latin typeface="Calibri"/>
                        </a:rPr>
                        <a:t>Shops, old streets and river walk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2420"/>
                          </a:solidFill>
                          <a:latin typeface="Calibri"/>
                        </a:rPr>
                        <a:t>3.30–6pm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0"/>
                          </a:solidFill>
                          <a:latin typeface="Calibri"/>
                        </a:rPr>
                        <a:t>Drive to York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2420"/>
                          </a:solidFill>
                          <a:latin typeface="Calibri"/>
                        </a:rPr>
                        <a:t>6pm / 7pm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0"/>
                          </a:solidFill>
                          <a:latin typeface="Calibri"/>
                        </a:rPr>
                        <a:t>Railway House check-in / dinner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6072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420"/>
                </a:solidFill>
                <a:latin typeface="Calibri"/>
              </a:rPr>
              <a:t>About 3½ hours in Stamford. Thursday is not the main market day.</a:t>
            </a:r>
          </a:p>
        </p:txBody>
      </p:sp>
      <p:pic>
        <p:nvPicPr>
          <p:cNvPr id="7" name="Picture 6" descr="stamfo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188720"/>
            <a:ext cx="4114800" cy="27534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3D36"/>
                </a:solidFill>
                <a:latin typeface="Georgia"/>
              </a:rPr>
              <a:t>Friday: York at an easy 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F5A49"/>
                </a:solidFill>
                <a:latin typeface="Calibri"/>
              </a:rPr>
              <a:t>16 October 2026 · Leave the car at Railway House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676656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57200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F5A49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>
                    <a:solidFill>
                      <a:srgbClr val="E2D9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F5A49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>
                    <a:solidFill>
                      <a:srgbClr val="E2D9C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0"/>
                          </a:solidFill>
                          <a:latin typeface="Calibri"/>
                        </a:rPr>
                        <a:t>8.30am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420"/>
                          </a:solidFill>
                          <a:latin typeface="Calibri"/>
                        </a:rPr>
                        <a:t>Breakfast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0"/>
                          </a:solidFill>
                          <a:latin typeface="Calibri"/>
                        </a:rPr>
                        <a:t>10–11.30am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420"/>
                          </a:solidFill>
                          <a:latin typeface="Calibri"/>
                        </a:rPr>
                        <a:t>York Minster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0"/>
                          </a:solidFill>
                          <a:latin typeface="Calibri"/>
                        </a:rPr>
                        <a:t>11.30–12.30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420"/>
                          </a:solidFill>
                          <a:latin typeface="Calibri"/>
                        </a:rPr>
                        <a:t>Stonegate shops and coffee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0"/>
                          </a:solidFill>
                          <a:latin typeface="Calibri"/>
                        </a:rPr>
                        <a:t>12.30–1.30pm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420"/>
                          </a:solidFill>
                          <a:latin typeface="Calibri"/>
                        </a:rPr>
                        <a:t>Lunch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0"/>
                          </a:solidFill>
                          <a:latin typeface="Calibri"/>
                        </a:rPr>
                        <a:t>1.30–2.30pm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420"/>
                          </a:solidFill>
                          <a:latin typeface="Calibri"/>
                        </a:rPr>
                        <a:t>The Shambles and market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0"/>
                          </a:solidFill>
                          <a:latin typeface="Calibri"/>
                        </a:rPr>
                        <a:t>2.30–3.30pm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420"/>
                          </a:solidFill>
                          <a:latin typeface="Calibri"/>
                        </a:rPr>
                        <a:t>Optional short city walls walk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0"/>
                          </a:solidFill>
                          <a:latin typeface="Calibri"/>
                        </a:rPr>
                        <a:t>3.30pm onwards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420"/>
                          </a:solidFill>
                          <a:latin typeface="Calibri"/>
                        </a:rPr>
                        <a:t>Rest, shops, then 7pm dinner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9788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2420"/>
                </a:solidFill>
                <a:latin typeface="Calibri"/>
              </a:rPr>
              <a:t>Leave around 9.15am. Allow 30–40 minutes to walk to the Minster, or take a taxi.</a:t>
            </a:r>
          </a:p>
        </p:txBody>
      </p:sp>
      <p:pic>
        <p:nvPicPr>
          <p:cNvPr id="7" name="Picture 6" descr="shamb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1148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3D36"/>
                </a:solidFill>
                <a:latin typeface="Georgia"/>
              </a:rPr>
              <a:t>York Minster and the city walls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2420"/>
                </a:solidFill>
                <a:latin typeface="Calibri"/>
              </a:rPr>
              <a:t>York Minster</a:t>
            </a:r>
          </a:p>
          <a:p>
            <a:r>
              <a:rPr sz="1600" b="0">
                <a:solidFill>
                  <a:srgbClr val="1C2420"/>
                </a:solidFill>
                <a:latin typeface="Calibri"/>
              </a:rPr>
              <a:t>The cathedral is York’s main landmark. Allow 1–1½ hours for Gothic architecture and stained glass.</a:t>
            </a:r>
          </a:p>
          <a:p>
            <a:r>
              <a:rPr sz="1600" b="0">
                <a:solidFill>
                  <a:srgbClr val="1C2420"/>
                </a:solidFill>
                <a:latin typeface="Calibri"/>
              </a:rPr>
              <a:t/>
            </a:r>
          </a:p>
          <a:p>
            <a:r>
              <a:rPr sz="1600" b="0">
                <a:solidFill>
                  <a:srgbClr val="1C2420"/>
                </a:solidFill>
                <a:latin typeface="Calibri"/>
              </a:rPr>
              <a:t>A short wall walk</a:t>
            </a:r>
          </a:p>
          <a:p>
            <a:r>
              <a:rPr sz="1600" b="0">
                <a:solidFill>
                  <a:srgbClr val="1C2420"/>
                </a:solidFill>
                <a:latin typeface="Calibri"/>
              </a:rPr>
              <a:t>Choose a section near the Minster. The full circuit is 3.4km — a shorter walk is more comfortable.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783A"/>
                </a:solidFill>
                <a:latin typeface="Calibri"/>
              </a:rPr>
              <a:t>Book Minster entry. Walls close at dusk and can close in poor weather.</a:t>
            </a:r>
          </a:p>
        </p:txBody>
      </p:sp>
      <p:pic>
        <p:nvPicPr>
          <p:cNvPr id="6" name="Picture 5" descr="min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280160"/>
            <a:ext cx="4206240" cy="23660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3D36"/>
                </a:solidFill>
                <a:latin typeface="Georgia"/>
              </a:rPr>
              <a:t>Shambles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F5A49"/>
                </a:solidFill>
                <a:latin typeface="Calibri"/>
              </a:rPr>
              <a:t>Friday afternoon · Allow around an hour with The Shambles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2420"/>
                </a:solidFill>
                <a:latin typeface="Calibri"/>
              </a:rPr>
              <a:t>A local market in the old town</a:t>
            </a:r>
          </a:p>
          <a:p>
            <a:r>
              <a:rPr sz="1600" b="0">
                <a:solidFill>
                  <a:srgbClr val="1C2420"/>
                </a:solidFill>
                <a:latin typeface="Calibri"/>
              </a:rPr>
              <a:t/>
            </a:r>
          </a:p>
          <a:p>
            <a:r>
              <a:rPr sz="1600" b="0">
                <a:solidFill>
                  <a:srgbClr val="1C2420"/>
                </a:solidFill>
                <a:latin typeface="Calibri"/>
              </a:rPr>
              <a:t>Browse independent stalls for gifts and local produce, with street food nearby. An easy stop while exploring The Shambles.</a:t>
            </a:r>
          </a:p>
          <a:p>
            <a:r>
              <a:rPr sz="1600" b="0">
                <a:solidFill>
                  <a:srgbClr val="1C2420"/>
                </a:solidFill>
                <a:latin typeface="Calibri"/>
              </a:rPr>
              <a:t/>
            </a:r>
          </a:p>
          <a:p>
            <a:r>
              <a:rPr sz="1600" b="0">
                <a:solidFill>
                  <a:srgbClr val="1C2420"/>
                </a:solidFill>
                <a:latin typeface="Calibri"/>
              </a:rPr>
              <a:t>Open daily, 9am–5pm</a:t>
            </a:r>
          </a:p>
          <a:p>
            <a:r>
              <a:rPr sz="1600" b="0">
                <a:solidFill>
                  <a:srgbClr val="1C2420"/>
                </a:solidFill>
                <a:latin typeface="Calibri"/>
              </a:rPr>
              <a:t>Individual traders’ days and hours vary.</a:t>
            </a:r>
          </a:p>
        </p:txBody>
      </p:sp>
      <p:pic>
        <p:nvPicPr>
          <p:cNvPr id="6" name="Picture 5" descr="shambles-mark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4023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3D36"/>
                </a:solidFill>
                <a:latin typeface="Georgia"/>
              </a:rPr>
              <a:t>Saturday: Castle Howard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F5A49"/>
                </a:solidFill>
                <a:latin typeface="Calibri"/>
              </a:rPr>
              <a:t>17 October 2026 · Country house morning, coast afternoon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676656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57200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F5A49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>
                    <a:solidFill>
                      <a:srgbClr val="E2D9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F5A49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>
                    <a:solidFill>
                      <a:srgbClr val="E2D9C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0"/>
                          </a:solidFill>
                          <a:latin typeface="Calibri"/>
                        </a:rPr>
                        <a:t>9am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420"/>
                          </a:solidFill>
                          <a:latin typeface="Calibri"/>
                        </a:rPr>
                        <a:t>Breakfast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0"/>
                          </a:solidFill>
                          <a:latin typeface="Calibri"/>
                        </a:rPr>
                        <a:t>9.30–10.15am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420"/>
                          </a:solidFill>
                          <a:latin typeface="Calibri"/>
                        </a:rPr>
                        <a:t>Drive to Castle Howard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0"/>
                          </a:solidFill>
                          <a:latin typeface="Calibri"/>
                        </a:rPr>
                        <a:t>10.15–12.15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420"/>
                          </a:solidFill>
                          <a:latin typeface="Calibri"/>
                        </a:rPr>
                        <a:t>House and a short garden stroll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0"/>
                          </a:solidFill>
                          <a:latin typeface="Calibri"/>
                        </a:rPr>
                        <a:t>12.15–1pm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420"/>
                          </a:solidFill>
                          <a:latin typeface="Calibri"/>
                        </a:rPr>
                        <a:t>Lunch at Castle Howard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0"/>
                          </a:solidFill>
                          <a:latin typeface="Calibri"/>
                        </a:rPr>
                        <a:t>1–2.15pm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420"/>
                          </a:solidFill>
                          <a:latin typeface="Calibri"/>
                        </a:rPr>
                        <a:t>Drive to Robin Hood’s Bay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0"/>
                          </a:solidFill>
                          <a:latin typeface="Calibri"/>
                        </a:rPr>
                        <a:t>2.15–5pm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420"/>
                          </a:solidFill>
                          <a:latin typeface="Calibri"/>
                        </a:rPr>
                        <a:t>Village, sea views and café stop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0"/>
                          </a:solidFill>
                          <a:latin typeface="Calibri"/>
                        </a:rPr>
                        <a:t>5–6.30pm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420"/>
                          </a:solidFill>
                          <a:latin typeface="Calibri"/>
                        </a:rPr>
                        <a:t>Back to York · dinner 7.30pm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2420"/>
                </a:solidFill>
                <a:latin typeface="Calibri"/>
              </a:rPr>
              <a:t>A shorter house visit leaves time for the coast. Around 3 hours of driving today.</a:t>
            </a:r>
          </a:p>
        </p:txBody>
      </p:sp>
      <p:pic>
        <p:nvPicPr>
          <p:cNvPr id="7" name="Picture 6" descr="castle-how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F3D36"/>
                </a:solidFill>
                <a:latin typeface="Georgia"/>
              </a:rPr>
              <a:t>Robin Hood’s Bay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F5A49"/>
                </a:solidFill>
                <a:latin typeface="Calibri"/>
              </a:rPr>
              <a:t>Saturday afternoon · Around 2¾ hours to explore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2420"/>
                </a:solidFill>
                <a:latin typeface="Calibri"/>
              </a:rPr>
              <a:t>A fishing village by the sea</a:t>
            </a:r>
          </a:p>
          <a:p>
            <a:r>
              <a:rPr sz="1600" b="0">
                <a:solidFill>
                  <a:srgbClr val="1C2420"/>
                </a:solidFill>
                <a:latin typeface="Calibri"/>
              </a:rPr>
              <a:t>Red-roofed cottages and narrow lanes lead down to the shore. Enjoy the village, coastal views and a café stop. Beach time depends on the tide.</a:t>
            </a:r>
          </a:p>
          <a:p>
            <a:r>
              <a:rPr sz="1600" b="0">
                <a:solidFill>
                  <a:srgbClr val="1C2420"/>
                </a:solidFill>
                <a:latin typeface="Calibri"/>
              </a:rPr>
              <a:t/>
            </a:r>
          </a:p>
          <a:p>
            <a:r>
              <a:rPr sz="1600" b="0">
                <a:solidFill>
                  <a:srgbClr val="1C2420"/>
                </a:solidFill>
                <a:latin typeface="Calibri"/>
              </a:rPr>
              <a:t>Parking and the hill</a:t>
            </a:r>
          </a:p>
          <a:p>
            <a:r>
              <a:rPr sz="1600" b="0">
                <a:solidFill>
                  <a:srgbClr val="1C2420"/>
                </a:solidFill>
                <a:latin typeface="Calibri"/>
              </a:rPr>
              <a:t>Park at the top. The walk down and back up is steep, so pace yourself and wear comfortable shoes.</a:t>
            </a:r>
          </a:p>
        </p:txBody>
      </p:sp>
      <p:pic>
        <p:nvPicPr>
          <p:cNvPr id="6" name="Picture 5" descr="robin-hoods-b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188720"/>
            <a:ext cx="4297680" cy="27666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F3D36"/>
                </a:solidFill>
                <a:latin typeface="Georgia"/>
              </a:rPr>
              <a:t>Sunday: departure and trip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F5A49"/>
                </a:solidFill>
                <a:latin typeface="Calibri"/>
              </a:rPr>
              <a:t>18 October 2026 · London return is an assumption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6949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66344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F5A49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>
                    <a:solidFill>
                      <a:srgbClr val="E2D9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F5A49"/>
                          </a:solidFill>
                          <a:latin typeface="Calibri"/>
                        </a:rPr>
                        <a:t>If returning to London</a:t>
                      </a:r>
                    </a:p>
                  </a:txBody>
                  <a:tcPr>
                    <a:solidFill>
                      <a:srgbClr val="E2D9C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2420"/>
                          </a:solidFill>
                          <a:latin typeface="Calibri"/>
                        </a:rPr>
                        <a:t>8.30–9.30am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0"/>
                          </a:solidFill>
                          <a:latin typeface="Calibri"/>
                        </a:rPr>
                        <a:t>Breakfast and pack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2420"/>
                          </a:solidFill>
                          <a:latin typeface="Calibri"/>
                        </a:rPr>
                        <a:t>10am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0"/>
                          </a:solidFill>
                          <a:latin typeface="Calibri"/>
                        </a:rPr>
                        <a:t>Check out and leave York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2420"/>
                          </a:solidFill>
                          <a:latin typeface="Calibri"/>
                        </a:rPr>
                        <a:t>12–1pm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0"/>
                          </a:solidFill>
                          <a:latin typeface="Calibri"/>
                        </a:rPr>
                        <a:t>Lunch and comfort stop en route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2420"/>
                          </a:solidFill>
                          <a:latin typeface="Calibri"/>
                        </a:rPr>
                        <a:t>3.30–4.30pm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0"/>
                          </a:solidFill>
                          <a:latin typeface="Calibri"/>
                        </a:rPr>
                        <a:t>Target arrival in London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420"/>
                </a:solidFill>
                <a:latin typeface="Calibri"/>
              </a:rPr>
              <a:t>Your accommodation</a:t>
            </a:r>
          </a:p>
          <a:p>
            <a:r>
              <a:rPr sz="1500" b="0">
                <a:solidFill>
                  <a:srgbClr val="1C2420"/>
                </a:solidFill>
                <a:latin typeface="Calibri"/>
              </a:rPr>
              <a:t/>
            </a:r>
          </a:p>
          <a:p>
            <a:r>
              <a:rPr sz="1500" b="0">
                <a:solidFill>
                  <a:srgbClr val="1C2420"/>
                </a:solidFill>
                <a:latin typeface="Calibri"/>
              </a:rPr>
              <a:t>Railway House York</a:t>
            </a:r>
          </a:p>
          <a:p>
            <a:r>
              <a:rPr sz="1500" b="0">
                <a:solidFill>
                  <a:srgbClr val="1C2420"/>
                </a:solidFill>
                <a:latin typeface="Calibri"/>
              </a:rPr>
              <a:t>128 Holgate Road</a:t>
            </a:r>
          </a:p>
          <a:p>
            <a:r>
              <a:rPr sz="1500" b="0">
                <a:solidFill>
                  <a:srgbClr val="1C2420"/>
                </a:solidFill>
                <a:latin typeface="Calibri"/>
              </a:rPr>
              <a:t>York YO24 4FL</a:t>
            </a:r>
          </a:p>
          <a:p>
            <a:r>
              <a:rPr sz="1500" b="0">
                <a:solidFill>
                  <a:srgbClr val="1C2420"/>
                </a:solidFill>
                <a:latin typeface="Calibri"/>
              </a:rPr>
              <a:t/>
            </a:r>
          </a:p>
          <a:p>
            <a:r>
              <a:rPr sz="1500" b="0">
                <a:solidFill>
                  <a:srgbClr val="1C2420"/>
                </a:solidFill>
                <a:latin typeface="Calibri"/>
              </a:rPr>
              <a:t>Free private parking</a:t>
            </a:r>
          </a:p>
          <a:p>
            <a:r>
              <a:rPr sz="1500" b="0">
                <a:solidFill>
                  <a:srgbClr val="1C2420"/>
                </a:solidFill>
                <a:latin typeface="Calibri"/>
              </a:rPr>
              <a:t>Check-in: 3–10pm</a:t>
            </a:r>
          </a:p>
          <a:p>
            <a:r>
              <a:rPr sz="1500" b="0">
                <a:solidFill>
                  <a:srgbClr val="1C2420"/>
                </a:solidFill>
                <a:latin typeface="Calibri"/>
              </a:rPr>
              <a:t>Check-out: 10–10.30am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420"/>
                </a:solidFill>
                <a:latin typeface="Calibri"/>
              </a:rPr>
              <a:t>Allow 4½–5½ hours of driving plus breaks. London traffic may extend the journey.</a:t>
            </a:r>
          </a:p>
          <a:p>
            <a:r>
              <a:rPr sz="1400" b="0">
                <a:solidFill>
                  <a:srgbClr val="1C2420"/>
                </a:solidFill>
                <a:latin typeface="Calibri"/>
              </a:rPr>
              <a:t>Wear comfortable shoes and bring a rain jacket. Photos are place previews, not a forecast.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